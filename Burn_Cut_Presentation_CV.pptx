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9"/>
    <p:sldId id="269" r:id="rId20"/>
    <p:sldId id="270" r:id="rId21"/>
    <p:sldId id="271" r:id="rId22"/>
    <p:sldId id="272" r:id="rId23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02920"/>
            <a:ext cx="11247120" cy="5715000"/>
          </a:xfrm>
          <a:prstGeom prst="roundRect">
            <a:avLst>
              <a:gd name="adj" fmla="val 1280"/>
            </a:avLst>
          </a:prstGeom>
          <a:solidFill>
            <a:srgbClr val="0D1526">
              <a:alpha val="90000"/>
            </a:srgbClr>
          </a:solidFill>
          <a:ln w="12700">
            <a:solidFill>
              <a:srgbClr val="22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777240"/>
            <a:ext cx="4800600" cy="5166360"/>
          </a:xfrm>
          <a:prstGeom prst="roundRect">
            <a:avLst>
              <a:gd name="adj" fmla="val 1143"/>
            </a:avLst>
          </a:prstGeom>
          <a:solidFill>
            <a:srgbClr val="101A2E">
              <a:alpha val="96000"/>
            </a:srgbClr>
          </a:solidFill>
          <a:ln w="12700">
            <a:solidFill>
              <a:srgbClr val="2D4066"/>
            </a:solidFill>
            <a:prstDash val="solid"/>
          </a:ln>
        </p:spPr>
      </p:sp>
      <p:pic>
        <p:nvPicPr>
          <p:cNvPr id="10" name="Image 0" descr="/mnt/data/front_frontview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822960" y="1945629"/>
            <a:ext cx="4526280" cy="278386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" y="960120"/>
            <a:ext cx="4526280" cy="4754880"/>
          </a:xfrm>
          <a:prstGeom prst="rect">
            <a:avLst/>
          </a:prstGeom>
          <a:solidFill>
            <a:srgbClr val="00000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0058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Burn Cut Blast Design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Performance Analysis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925312" y="19659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Underground blast design in AutoCAD with Excel calculations and safety checks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925312" y="2615184"/>
            <a:ext cx="5257800" cy="969264"/>
          </a:xfrm>
          <a:prstGeom prst="roundRect">
            <a:avLst>
              <a:gd name="adj" fmla="val 5660"/>
            </a:avLst>
          </a:prstGeom>
          <a:solidFill>
            <a:srgbClr val="17243D"/>
          </a:solidFill>
          <a:ln w="12700">
            <a:solidFill>
              <a:srgbClr val="3650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2770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B93B"/>
                </a:solidFill>
              </a:rPr>
              <a:t>Prepared by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44768" y="294436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Lakshay Soni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25312" y="3840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Project: Burn cut design with AutoCAD drawings, Excel calculations, and fragmentation, vibration and sensitivity analysis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25312" y="437083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4E7"/>
                </a:solidFill>
              </a:rPr>
              <a:t>This deck includes definitions, formulas, calculation tables, AutoCAD screenshots, and blast performance and safety analysis.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5961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Burn Cut in Underground Blasting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What the presentation covers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325880"/>
            <a:ext cx="5623560" cy="5029200"/>
          </a:xfrm>
          <a:prstGeom prst="roundRect">
            <a:avLst>
              <a:gd name="adj" fmla="val 1455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1435608"/>
            <a:ext cx="5294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Main idea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1673352"/>
            <a:ext cx="529437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783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Burn cut is a parallel-hole blasting pattern used in underground excavation.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It creates an initial cavity in the rock face so the remaining holes can break rock efficiently.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The design process in this project uses </a:t>
            </a:r>
            <a:pPr indent="0" marL="0">
              <a:buNone/>
            </a:pPr>
            <a:r>
              <a:rPr lang="en-US" sz="1700" b="1" dirty="0">
                <a:solidFill>
                  <a:srgbClr val="F6B93B"/>
                </a:solidFill>
              </a:rPr>
              <a:t>AutoCAD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 for geometry and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Excel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 for charge and burden calculations.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55080" y="13258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9672" y="1435608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Why this method?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19672" y="1673352"/>
            <a:ext cx="492861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755648"/>
            <a:ext cx="470916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Good for hard rock excavation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Improves fragmentation and advance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Works with a single free face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Useful for tunnels and drifts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55080" y="3383280"/>
            <a:ext cx="5257800" cy="2971800"/>
          </a:xfrm>
          <a:prstGeom prst="roundRect">
            <a:avLst>
              <a:gd name="adj" fmla="val 2462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9672" y="3493008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What is included in this deck?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19672" y="3730752"/>
            <a:ext cx="492861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822192"/>
            <a:ext cx="4681728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Definitions and cut types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AutoCAD top, side and front views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Excel inputs, formulas and output tables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Blast performance and safety analysis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Burn Cut: Definition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 core concept in underground drilling and blasting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141732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1527048"/>
            <a:ext cx="6071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Definition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1764792"/>
            <a:ext cx="607161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847088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B93B"/>
                </a:solidFill>
              </a:rPr>
              <a:t>Burn cut</a:t>
            </a:r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 is a drilling pattern in which </a:t>
            </a:r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one or more empty holes</a:t>
            </a:r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 are placed near the center of the face and the surrounding charged holes are drilled parallel to them.
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The empty holes act as a </a:t>
            </a:r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</a:rPr>
              <a:t>relief space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 so the rock can break towards the cavity created by the first blast.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8680" y="3639312"/>
            <a:ext cx="5669280" cy="1810512"/>
          </a:xfrm>
          <a:prstGeom prst="roundRect">
            <a:avLst>
              <a:gd name="adj" fmla="val 3030"/>
            </a:avLst>
          </a:prstGeom>
          <a:solidFill>
            <a:srgbClr val="0F1B2F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673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B93B"/>
                </a:solidFill>
              </a:rPr>
              <a:t>Key points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041648"/>
            <a:ext cx="4983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F8FAFC"/>
                </a:solidFill>
              </a:rPr>
              <a:t>Parallel holes are used instead of angled holes.</a:t>
            </a:r>
            <a:pPr indent="0" marL="0">
              <a:buNone/>
            </a:pPr>
            <a:r>
              <a:rPr lang="en-US" sz="1420" dirty="0">
                <a:solidFill>
                  <a:srgbClr val="F8FAFC"/>
                </a:solidFill>
              </a:rPr>
              <a:t>
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F8FAFC"/>
                </a:solidFill>
              </a:rPr>
              <a:t>The cut creates the first free face inside the face.</a:t>
            </a:r>
            <a:pPr indent="0" marL="0">
              <a:buNone/>
            </a:pPr>
            <a:r>
              <a:rPr lang="en-US" sz="1420" dirty="0">
                <a:solidFill>
                  <a:srgbClr val="F8FAFC"/>
                </a:solidFill>
              </a:rPr>
              <a:t>
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F8FAFC"/>
                </a:solidFill>
              </a:rPr>
              <a:t>It is especially useful in hard rock.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7223760" y="1417320"/>
            <a:ext cx="4434840" cy="4480560"/>
          </a:xfrm>
          <a:prstGeom prst="roundRect">
            <a:avLst>
              <a:gd name="adj" fmla="val 1649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88352" y="1527048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Important terms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88352" y="1764792"/>
            <a:ext cx="410565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Empty hole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61120" y="1828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 hole with no explosive to create space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79792" y="2121408"/>
            <a:ext cx="365760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Charge hole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961120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Hole loaded with explosive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79792" y="2779776"/>
            <a:ext cx="365760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31455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Burden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61120" y="31455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Distance from hole to free face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79792" y="3438144"/>
            <a:ext cx="365760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803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Stemming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61120" y="3803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Inert material at the top of a hole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79792" y="4096512"/>
            <a:ext cx="365760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4462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Relief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0" y="4462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Void that helps rock breakage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Burn Cut Design Basics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How the pattern is formed in the face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132588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1435608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Geometry of a burn cut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1673352"/>
            <a:ext cx="515721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7830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The central empty holes create the cavity. The surrounding holes are fired in sequence so the broken rock moves into the void.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1325880" y="2468880"/>
            <a:ext cx="0" cy="228600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5688" y="2468880"/>
            <a:ext cx="0" cy="228600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25496" y="2468880"/>
            <a:ext cx="0" cy="228600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75304" y="2468880"/>
            <a:ext cx="0" cy="228600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25112" y="2468880"/>
            <a:ext cx="0" cy="228600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2834640"/>
            <a:ext cx="3657600" cy="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3310128"/>
            <a:ext cx="3657600" cy="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" y="3785616"/>
            <a:ext cx="3657600" cy="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4261104"/>
            <a:ext cx="3657600" cy="0"/>
          </a:xfrm>
          <a:prstGeom prst="line">
            <a:avLst/>
          </a:prstGeom>
          <a:noFill/>
          <a:ln w="1651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3063240"/>
            <a:ext cx="146304" cy="146304"/>
          </a:xfrm>
          <a:prstGeom prst="ellipse">
            <a:avLst/>
          </a:prstGeom>
          <a:solidFill>
            <a:srgbClr val="38BDF8">
              <a:alpha val="90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063240"/>
            <a:ext cx="146304" cy="146304"/>
          </a:xfrm>
          <a:prstGeom prst="ellipse">
            <a:avLst/>
          </a:prstGeom>
          <a:solidFill>
            <a:srgbClr val="38BDF8">
              <a:alpha val="90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3273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Empty holes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25880" y="269748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5880" y="320040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370332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269748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37360" y="320040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37360" y="370332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840" y="269748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48840" y="320040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8840" y="370332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0" y="269748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320040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370332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269748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71800" y="320040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71800" y="370332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269748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3280" y="320040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0" y="370332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4760" y="269748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94760" y="320040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94760" y="370332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0" y="269748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06240" y="320040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06240" y="3703320"/>
            <a:ext cx="91440" cy="91440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4128" y="4069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B93B"/>
                </a:solidFill>
              </a:rPr>
              <a:t>Charged holes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63640" y="13258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428232" y="1435608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Design constraints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428232" y="1673352"/>
            <a:ext cx="502005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1764792"/>
            <a:ext cx="48006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Single free face</a:t>
            </a:r>
            <a:pPr indent="0" marL="0">
              <a:buNone/>
            </a:pPr>
            <a:r>
              <a:rPr lang="en-US" sz="1360" dirty="0">
                <a:solidFill>
                  <a:srgbClr val="F8FAFC"/>
                </a:solidFill>
              </a:rPr>
              <a:t>
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Rock type and strength</a:t>
            </a:r>
            <a:pPr indent="0" marL="0">
              <a:buNone/>
            </a:pPr>
            <a:r>
              <a:rPr lang="en-US" sz="1360" dirty="0">
                <a:solidFill>
                  <a:srgbClr val="F8FAFC"/>
                </a:solidFill>
              </a:rPr>
              <a:t>
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Hole diameter and depth</a:t>
            </a:r>
            <a:pPr indent="0" marL="0">
              <a:buNone/>
            </a:pPr>
            <a:r>
              <a:rPr lang="en-US" sz="1360" dirty="0">
                <a:solidFill>
                  <a:srgbClr val="F8FAFC"/>
                </a:solidFill>
              </a:rPr>
              <a:t>
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Explosive type and load</a:t>
            </a:r>
            <a:pPr indent="0" marL="0">
              <a:buNone/>
            </a:pPr>
            <a:r>
              <a:rPr lang="en-US" sz="1360" dirty="0">
                <a:solidFill>
                  <a:srgbClr val="F8FAFC"/>
                </a:solidFill>
              </a:rPr>
              <a:t>
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Sequence of firing</a:t>
            </a:r>
            <a:endParaRPr lang="en-US" sz="1360" dirty="0"/>
          </a:p>
        </p:txBody>
      </p:sp>
      <p:sp>
        <p:nvSpPr>
          <p:cNvPr id="57" name="Shape 55"/>
          <p:cNvSpPr/>
          <p:nvPr/>
        </p:nvSpPr>
        <p:spPr>
          <a:xfrm>
            <a:off x="6263640" y="3730752"/>
            <a:ext cx="5349240" cy="2670048"/>
          </a:xfrm>
          <a:prstGeom prst="roundRect">
            <a:avLst>
              <a:gd name="adj" fmla="val 2740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428232" y="3840480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Common hole groups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6428232" y="4078224"/>
            <a:ext cx="502005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4169664"/>
            <a:ext cx="480060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Cut holes or cut spreader holes</a:t>
            </a:r>
            <a:pPr indent="0" marL="0">
              <a:buNone/>
            </a:pPr>
            <a:r>
              <a:rPr lang="en-US" sz="1360" dirty="0">
                <a:solidFill>
                  <a:srgbClr val="F8FAFC"/>
                </a:solidFill>
              </a:rPr>
              <a:t>
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Stoping holes around the cut</a:t>
            </a:r>
            <a:pPr indent="0" marL="0">
              <a:buNone/>
            </a:pPr>
            <a:r>
              <a:rPr lang="en-US" sz="1360" dirty="0">
                <a:solidFill>
                  <a:srgbClr val="F8FAFC"/>
                </a:solidFill>
              </a:rPr>
              <a:t>
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Wall, roof and floor holes</a:t>
            </a:r>
            <a:pPr indent="0" marL="0">
              <a:buNone/>
            </a:pPr>
            <a:r>
              <a:rPr lang="en-US" sz="1360" dirty="0">
                <a:solidFill>
                  <a:srgbClr val="F8FAFC"/>
                </a:solidFill>
              </a:rPr>
              <a:t>
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F8FAFC"/>
                </a:solidFill>
              </a:rPr>
              <a:t>Lifters near the floor</a:t>
            </a:r>
            <a:endParaRPr lang="en-US" sz="1360" dirty="0"/>
          </a:p>
        </p:txBody>
      </p:sp>
      <p:sp>
        <p:nvSpPr>
          <p:cNvPr id="61" name="Text 59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AutoCAD Views Created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Top view, side view and front view of the burn cut pattern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50876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16184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Top view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1856232"/>
            <a:ext cx="305409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pic>
        <p:nvPicPr>
          <p:cNvPr id="15" name="Image 0" descr="/mnt/data/front_top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341567"/>
            <a:ext cx="3163824" cy="23120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2648" y="5303520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93B"/>
                </a:solidFill>
              </a:rPr>
              <a:t>Top 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0" y="150876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79392" y="16184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Side view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79392" y="1856232"/>
            <a:ext cx="305409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pic>
        <p:nvPicPr>
          <p:cNvPr id="20" name="Image 1" descr="/mnt/data/front_sid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240163"/>
            <a:ext cx="3163824" cy="251483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224528" y="5303520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93B"/>
                </a:solidFill>
              </a:rPr>
              <a:t>Side view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726680" y="150876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891272" y="16184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Front view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891272" y="1856232"/>
            <a:ext cx="305409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pic>
        <p:nvPicPr>
          <p:cNvPr id="25" name="Image 2" descr="/mnt/data/front_front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8" y="2524634"/>
            <a:ext cx="3163824" cy="19458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36408" y="5303520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93B"/>
                </a:solidFill>
              </a:rPr>
              <a:t>Front view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77240" y="598932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Each view helps verify spacing, alignment, depth and the position of the cut holes.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 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Full face arrangement of holes in the burn cut pattern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325880"/>
            <a:ext cx="11201400" cy="5074920"/>
          </a:xfrm>
          <a:prstGeom prst="roundRect">
            <a:avLst>
              <a:gd name="adj" fmla="val 1441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1435608"/>
            <a:ext cx="10872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Front view screenshot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1673352"/>
            <a:ext cx="1087221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pic>
        <p:nvPicPr>
          <p:cNvPr id="15" name="Image 0" descr="/mnt/data/front_front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7815" y="1755648"/>
            <a:ext cx="7017329" cy="43159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57881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Use this view to show the symmetry of the hole pattern and the curved boundary of the face.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Side 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Hole inclination and level arrangement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1481328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Side view screenshot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" y="1719072"/>
            <a:ext cx="1064361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pic>
        <p:nvPicPr>
          <p:cNvPr id="15" name="Image 0" descr="/mnt/data/front_sid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3659" y="1783080"/>
            <a:ext cx="5234203" cy="41605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574243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This view is useful to explain the depth, parallel alignment and the position of the empty holes.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Plan view of the burn cut layout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1481328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Top view screenshot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" y="1719072"/>
            <a:ext cx="1064361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pic>
        <p:nvPicPr>
          <p:cNvPr id="15" name="Image 0" descr="/mnt/data/front_top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935" y="1810512"/>
            <a:ext cx="5505651" cy="40233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574243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This view helps in checking spacing, row pattern and the relationship between cut holes and stoping holes.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Excel Inputs and Formulas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The main values used in the burn cut calculation sheet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1435608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Input values from Excel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1673352"/>
            <a:ext cx="511149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178308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Diameter of empty holes (De)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59352" y="1755648"/>
            <a:ext cx="141732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181051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102 mm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68096" y="23500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Length of holes (L)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59352" y="2322576"/>
            <a:ext cx="141732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32504" y="23774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3 m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68096" y="29169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Charge hole diameter (d)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59352" y="2889504"/>
            <a:ext cx="141732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2504" y="29443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45 mm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68096" y="348386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Rock constant (C)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59352" y="3456432"/>
            <a:ext cx="141732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32504" y="351129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0.6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68096" y="405079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Explosive density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59352" y="4023360"/>
            <a:ext cx="141732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32504" y="407822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0.85 g/cm³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68096" y="46177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RWS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959352" y="4590288"/>
            <a:ext cx="141732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32504" y="464515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1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217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82512" y="1435608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Formulas used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82512" y="1673352"/>
            <a:ext cx="511149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3952" y="1783080"/>
            <a:ext cx="4892040" cy="694944"/>
          </a:xfrm>
          <a:prstGeom prst="roundRect">
            <a:avLst>
              <a:gd name="adj" fmla="val 5263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1865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Stemming length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47888" y="184708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T = 10 × 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73952" y="2606040"/>
            <a:ext cx="4892040" cy="694944"/>
          </a:xfrm>
          <a:prstGeom prst="roundRect">
            <a:avLst>
              <a:gd name="adj" fmla="val 5263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2688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Charge length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47888" y="267004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Lc = L - 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73952" y="3429000"/>
            <a:ext cx="4892040" cy="694944"/>
          </a:xfrm>
          <a:prstGeom prst="roundRect">
            <a:avLst>
              <a:gd name="adj" fmla="val 5263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5112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Charge concentration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47888" y="349300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Q(kg/m) = 7.85 × 10^-4 × d² × density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73952" y="4251960"/>
            <a:ext cx="4892040" cy="694944"/>
          </a:xfrm>
          <a:prstGeom prst="roundRect">
            <a:avLst>
              <a:gd name="adj" fmla="val 5263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56832" y="4334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Burden equation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47888" y="431596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B = 0.88 × q^0.35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73952" y="5074920"/>
            <a:ext cx="4892040" cy="694944"/>
          </a:xfrm>
          <a:prstGeom prst="roundRect">
            <a:avLst>
              <a:gd name="adj" fmla="val 5263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6832" y="51572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Total powder factor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247888" y="513892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PF = Q_total / rock volume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Cut Section Calculations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Worked values from the Excel sheet for the first four sections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325880"/>
            <a:ext cx="11384280" cy="5120640"/>
          </a:xfrm>
          <a:prstGeom prst="roundRect">
            <a:avLst>
              <a:gd name="adj" fmla="val 1429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" y="1435608"/>
            <a:ext cx="11055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Calculated burn cut sections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" y="1673352"/>
            <a:ext cx="1105509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828800"/>
            <a:ext cx="1417320" cy="384048"/>
          </a:xfrm>
          <a:prstGeom prst="rect">
            <a:avLst/>
          </a:prstGeom>
          <a:solidFill>
            <a:srgbClr val="16253B"/>
          </a:solidFill>
          <a:ln w="12700">
            <a:solidFill>
              <a:srgbClr val="4962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191109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AFC"/>
                </a:solidFill>
              </a:rPr>
              <a:t>Section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2103120" y="1828800"/>
            <a:ext cx="1508760" cy="384048"/>
          </a:xfrm>
          <a:prstGeom prst="rect">
            <a:avLst/>
          </a:prstGeom>
          <a:solidFill>
            <a:srgbClr val="16253B"/>
          </a:solidFill>
          <a:ln w="12700">
            <a:solidFill>
              <a:srgbClr val="4962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0552" y="191109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AFC"/>
                </a:solidFill>
              </a:rPr>
              <a:t>Burden B (m)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611880" y="1828800"/>
            <a:ext cx="1417320" cy="384048"/>
          </a:xfrm>
          <a:prstGeom prst="rect">
            <a:avLst/>
          </a:prstGeom>
          <a:solidFill>
            <a:srgbClr val="16253B"/>
          </a:solidFill>
          <a:ln w="12700">
            <a:solidFill>
              <a:srgbClr val="4962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191109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AFC"/>
                </a:solidFill>
              </a:rPr>
              <a:t>Side A (m)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029200" y="1828800"/>
            <a:ext cx="1234440" cy="384048"/>
          </a:xfrm>
          <a:prstGeom prst="rect">
            <a:avLst/>
          </a:prstGeom>
          <a:solidFill>
            <a:srgbClr val="16253B"/>
          </a:solidFill>
          <a:ln w="12700">
            <a:solidFill>
              <a:srgbClr val="4962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191109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AFC"/>
                </a:solidFill>
              </a:rPr>
              <a:t>q (kg/m)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1325880" cy="384048"/>
          </a:xfrm>
          <a:prstGeom prst="rect">
            <a:avLst/>
          </a:prstGeom>
          <a:solidFill>
            <a:srgbClr val="16253B"/>
          </a:solidFill>
          <a:ln w="12700">
            <a:solidFill>
              <a:srgbClr val="4962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91109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AFC"/>
                </a:solidFill>
              </a:rPr>
              <a:t>Q = q×4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7589520" y="1828800"/>
            <a:ext cx="1325880" cy="384048"/>
          </a:xfrm>
          <a:prstGeom prst="rect">
            <a:avLst/>
          </a:prstGeom>
          <a:solidFill>
            <a:srgbClr val="16253B"/>
          </a:solidFill>
          <a:ln w="12700">
            <a:solidFill>
              <a:srgbClr val="4962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191109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AFC"/>
                </a:solidFill>
              </a:rPr>
              <a:t>Q×L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85800" y="2212848"/>
            <a:ext cx="141732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232257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First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2103120" y="2212848"/>
            <a:ext cx="150876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30552" y="232257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0.153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611880" y="2212848"/>
            <a:ext cx="141732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232257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0.216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029200" y="2212848"/>
            <a:ext cx="123444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232257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0.377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263640" y="2212848"/>
            <a:ext cx="132588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232257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1.509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589520" y="2212848"/>
            <a:ext cx="132588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6952" y="232257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3.847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85800" y="2596896"/>
            <a:ext cx="141732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270662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Second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2103120" y="2596896"/>
            <a:ext cx="150876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30552" y="270662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0.216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3611880" y="2596896"/>
            <a:ext cx="141732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270662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0.459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5029200" y="2596896"/>
            <a:ext cx="123444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56632" y="270662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0.356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6263640" y="2596896"/>
            <a:ext cx="132588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270662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1.423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7589520" y="2596896"/>
            <a:ext cx="132588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16952" y="270662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3.627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685800" y="2980944"/>
            <a:ext cx="141732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" y="309067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Third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2103120" y="2980944"/>
            <a:ext cx="150876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30552" y="309067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0.459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3611880" y="2980944"/>
            <a:ext cx="141732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39312" y="309067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0.974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5029200" y="2980944"/>
            <a:ext cx="123444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56632" y="309067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0.754</a:t>
            </a:r>
            <a:endParaRPr lang="en-US" sz="1080" dirty="0"/>
          </a:p>
        </p:txBody>
      </p:sp>
      <p:sp>
        <p:nvSpPr>
          <p:cNvPr id="59" name="Shape 57"/>
          <p:cNvSpPr/>
          <p:nvPr/>
        </p:nvSpPr>
        <p:spPr>
          <a:xfrm>
            <a:off x="6263640" y="2980944"/>
            <a:ext cx="132588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91072" y="309067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3.018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7589520" y="2980944"/>
            <a:ext cx="1325880" cy="429768"/>
          </a:xfrm>
          <a:prstGeom prst="rect">
            <a:avLst/>
          </a:prstGeom>
          <a:solidFill>
            <a:srgbClr val="0F1B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16952" y="309067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7.695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685800" y="3364992"/>
            <a:ext cx="141732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" y="347472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6B93B"/>
                </a:solidFill>
              </a:rPr>
              <a:t>Fourth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2103120" y="3364992"/>
            <a:ext cx="150876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30552" y="347472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0.974</a:t>
            </a:r>
            <a:endParaRPr lang="en-US" sz="1080" dirty="0"/>
          </a:p>
        </p:txBody>
      </p:sp>
      <p:sp>
        <p:nvSpPr>
          <p:cNvPr id="67" name="Shape 65"/>
          <p:cNvSpPr/>
          <p:nvPr/>
        </p:nvSpPr>
        <p:spPr>
          <a:xfrm>
            <a:off x="3611880" y="3364992"/>
            <a:ext cx="141732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39312" y="347472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2.066</a:t>
            </a:r>
            <a:endParaRPr lang="en-US" sz="1080" dirty="0"/>
          </a:p>
        </p:txBody>
      </p:sp>
      <p:sp>
        <p:nvSpPr>
          <p:cNvPr id="69" name="Shape 67"/>
          <p:cNvSpPr/>
          <p:nvPr/>
        </p:nvSpPr>
        <p:spPr>
          <a:xfrm>
            <a:off x="5029200" y="3364992"/>
            <a:ext cx="123444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56632" y="34747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1.600</a:t>
            </a:r>
            <a:endParaRPr lang="en-US" sz="1080" dirty="0"/>
          </a:p>
        </p:txBody>
      </p:sp>
      <p:sp>
        <p:nvSpPr>
          <p:cNvPr id="71" name="Shape 69"/>
          <p:cNvSpPr/>
          <p:nvPr/>
        </p:nvSpPr>
        <p:spPr>
          <a:xfrm>
            <a:off x="6263640" y="3364992"/>
            <a:ext cx="132588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91072" y="34747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6.401</a:t>
            </a:r>
            <a:endParaRPr lang="en-US" sz="1080" dirty="0"/>
          </a:p>
        </p:txBody>
      </p:sp>
      <p:sp>
        <p:nvSpPr>
          <p:cNvPr id="73" name="Shape 71"/>
          <p:cNvSpPr/>
          <p:nvPr/>
        </p:nvSpPr>
        <p:spPr>
          <a:xfrm>
            <a:off x="7589520" y="3364992"/>
            <a:ext cx="1325880" cy="4297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16952" y="34747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16.323</a:t>
            </a:r>
            <a:endParaRPr lang="en-US" sz="1080" dirty="0"/>
          </a:p>
        </p:txBody>
      </p:sp>
      <p:sp>
        <p:nvSpPr>
          <p:cNvPr id="75" name="Text 73"/>
          <p:cNvSpPr/>
          <p:nvPr/>
        </p:nvSpPr>
        <p:spPr>
          <a:xfrm>
            <a:off x="822960" y="507492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These values match the Excel calculations used to design the burn cut sections.</a:t>
            </a:r>
            <a:endParaRPr lang="en-US" sz="1130" dirty="0"/>
          </a:p>
        </p:txBody>
      </p:sp>
      <p:sp>
        <p:nvSpPr>
          <p:cNvPr id="76" name="Text 74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Holes and Final Results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Total charge and powder factor from the Excel file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325880"/>
            <a:ext cx="5577840" cy="5074920"/>
          </a:xfrm>
          <a:prstGeom prst="roundRect">
            <a:avLst>
              <a:gd name="adj" fmla="val 1441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1435608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Remaining hole calculations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1673352"/>
            <a:ext cx="524865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Q(kg/m)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3657600" y="1755648"/>
            <a:ext cx="169164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81051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B93B"/>
                </a:solidFill>
              </a:rPr>
              <a:t>1.351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2313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Burden B (m)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3657600" y="2286000"/>
            <a:ext cx="169164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2340864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B93B"/>
                </a:solidFill>
              </a:rPr>
              <a:t>0.978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28437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Floor holes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3657600" y="2816352"/>
            <a:ext cx="169164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287121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B93B"/>
                </a:solidFill>
              </a:rPr>
              <a:t>12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3374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Wall holes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3657600" y="3346704"/>
            <a:ext cx="169164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0752" y="340156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B93B"/>
                </a:solidFill>
              </a:rPr>
              <a:t>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3904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Roof holes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3657600" y="3877056"/>
            <a:ext cx="169164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393192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B93B"/>
                </a:solidFill>
              </a:rPr>
              <a:t>8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4434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Stoping holes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3657600" y="4407408"/>
            <a:ext cx="1691640" cy="292608"/>
          </a:xfrm>
          <a:prstGeom prst="roundRect">
            <a:avLst>
              <a:gd name="adj" fmla="val 937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4462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B93B"/>
                </a:solidFill>
              </a:rPr>
              <a:t>50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1325880"/>
            <a:ext cx="5349240" cy="5074920"/>
          </a:xfrm>
          <a:prstGeom prst="roundRect">
            <a:avLst>
              <a:gd name="adj" fmla="val 1441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28232" y="1435608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Final values from Excel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28232" y="1673352"/>
            <a:ext cx="502005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1828800"/>
            <a:ext cx="4663440" cy="658368"/>
          </a:xfrm>
          <a:prstGeom prst="roundRect">
            <a:avLst>
              <a:gd name="adj" fmla="val 5556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19202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BD5E1"/>
                </a:solidFill>
              </a:rPr>
              <a:t>Cut charge total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9098280" y="18836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31.49 kg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537960" y="2633472"/>
            <a:ext cx="4663440" cy="658368"/>
          </a:xfrm>
          <a:prstGeom prst="roundRect">
            <a:avLst>
              <a:gd name="adj" fmla="val 5556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27249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BD5E1"/>
                </a:solidFill>
              </a:rPr>
              <a:t>Other holes charge total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9098280" y="2688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60.80 kg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537960" y="3438144"/>
            <a:ext cx="4663440" cy="658368"/>
          </a:xfrm>
          <a:prstGeom prst="roundRect">
            <a:avLst>
              <a:gd name="adj" fmla="val 5556"/>
            </a:avLst>
          </a:prstGeom>
          <a:solidFill>
            <a:srgbClr val="172B46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5295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BD5E1"/>
                </a:solidFill>
              </a:rPr>
              <a:t>Total charge Q_total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9098280" y="34930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6B93B"/>
                </a:solidFill>
              </a:rPr>
              <a:t>92.30 kg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537960" y="4242816"/>
            <a:ext cx="4663440" cy="658368"/>
          </a:xfrm>
          <a:prstGeom prst="roundRect">
            <a:avLst>
              <a:gd name="adj" fmla="val 5556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433425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BD5E1"/>
                </a:solidFill>
              </a:rPr>
              <a:t>Rock volume</a:t>
            </a:r>
            <a:endParaRPr lang="en-US" sz="1060" dirty="0"/>
          </a:p>
        </p:txBody>
      </p:sp>
      <p:sp>
        <p:nvSpPr>
          <p:cNvPr id="47" name="Text 45"/>
          <p:cNvSpPr/>
          <p:nvPr/>
        </p:nvSpPr>
        <p:spPr>
          <a:xfrm>
            <a:off x="9098280" y="4297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58.8 m³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537960" y="5047488"/>
            <a:ext cx="4663440" cy="658368"/>
          </a:xfrm>
          <a:prstGeom prst="roundRect">
            <a:avLst>
              <a:gd name="adj" fmla="val 5556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51389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BD5E1"/>
                </a:solidFill>
              </a:rPr>
              <a:t>Powder factor</a:t>
            </a:r>
            <a:endParaRPr lang="en-US" sz="1060" dirty="0"/>
          </a:p>
        </p:txBody>
      </p:sp>
      <p:sp>
        <p:nvSpPr>
          <p:cNvPr id="50" name="Text 48"/>
          <p:cNvSpPr/>
          <p:nvPr/>
        </p:nvSpPr>
        <p:spPr>
          <a:xfrm>
            <a:off x="9098280" y="5102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1.570 kg/m³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492240" y="57150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The powder factor gives a quick idea of how much explosive is used per cubic meter of rock.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Key takeaways from the design and analysis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11155680" cy="0"/>
          </a:xfrm>
          <a:prstGeom prst="line">
            <a:avLst/>
          </a:prstGeom>
          <a:noFill/>
          <a:ln w="16510">
            <a:solidFill>
              <a:srgbClr val="F6B93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</a:rPr>
              <a:t>Burn Cut in Underground Blasting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1417320"/>
            <a:ext cx="10881360" cy="3000000"/>
          </a:xfrm>
          <a:prstGeom prst="roundRect">
            <a:avLst>
              <a:gd name="adj" fmla="val 1633"/>
            </a:avLst>
          </a:prstGeom>
          <a:solidFill>
            <a:srgbClr val="111C30">
              <a:alpha val="94000"/>
            </a:srgbClr>
          </a:solidFill>
          <a:ln w="12700">
            <a:solidFill>
              <a:srgbClr val="2740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1527048"/>
            <a:ext cx="10552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Key points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392" y="1764792"/>
            <a:ext cx="10552176" cy="0"/>
          </a:xfrm>
          <a:prstGeom prst="line">
            <a:avLst/>
          </a:prstGeom>
          <a:noFill/>
          <a:ln w="12700">
            <a:solidFill>
              <a:srgbClr val="355070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828800"/>
            <a:ext cx="102870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Burn cut is suitable for underground hard-rock blasting.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The empty holes create the initial relief cavity.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AutoCAD helps visualize the hole pattern clearly.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
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Excel helps calculate burden, charge and powder factor.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0" y="58978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0" y="6291072"/>
            <a:ext cx="12191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Lakshay Soni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Slide 17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 Cut in Underground Blasting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Fragmentation Estimate (Kuz-Ram Model)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78638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the mean rock fragment size produced by the existing blast design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Kuz-Ram formula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82880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8FAFC"/>
                </a:solidFill>
              </a:rPr>
              <a:t>X50 = A × (V0/Qe)^0.8 × Qe^(1/6) × (115/RWS)^(19/30)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X50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  =  mean fragment size (cm)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A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  =  rock factor (blastability index)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V0/Qe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  =  rock volume broken per kg of explosive = 1 / powder factor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Qe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  =  mass of explosive per hole (kg)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RWS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  =  relative weight strength vs. ANFO (%)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234440"/>
            <a:ext cx="5806440" cy="3246120"/>
          </a:xfrm>
          <a:prstGeom prst="roundRect">
            <a:avLst>
              <a:gd name="adj" fmla="val 1690"/>
            </a:avLst>
          </a:prstGeom>
          <a:solidFill>
            <a:srgbClr val="12203A"/>
          </a:solidFill>
          <a:ln w="12700">
            <a:solidFill>
              <a:srgbClr val="2740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used (from this design)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349240" cy="2377440"/>
        </p:xfrm>
        <a:graphic>
          <a:graphicData uri="http://schemas.openxmlformats.org/drawingml/2006/table">
            <a:tbl>
              <a:tblPr/>
              <a:tblGrid>
                <a:gridCol w="3749040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Rock factor, A (assumed: competent hard rock)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Powder factor (from Excel sheet)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1.570 kg/m³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V0/Qe = 1 / powder factor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0.637 m³/kg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charge / total holes ≈ Qe (avg. per hole)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92.30 kg / 94 ≈ 0.98 kg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Relative weight strength, RWS (ANFO-equivalent)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11480" y="4709160"/>
            <a:ext cx="11384280" cy="1051560"/>
          </a:xfrm>
          <a:prstGeom prst="roundRect">
            <a:avLst>
              <a:gd name="adj" fmla="val 5217"/>
            </a:avLst>
          </a:prstGeom>
          <a:solidFill>
            <a:srgbClr val="0F1B2F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846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mean fragment size:  X50 ≈ 7.6 cm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design-stage estimate — A and Qe are assumed/averaged values that would normally be refined against site-specific rock mass data and monitored blast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 Cut in Underground Blasting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Sensitivity: Burden vs. Hole Diameter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78638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allowable burden changes as charge-hole diameter increases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5029200" cy="4526280"/>
          </a:xfrm>
          <a:prstGeom prst="roundRect">
            <a:avLst>
              <a:gd name="adj" fmla="val 1212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values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4572000" cy="3794760"/>
        </p:xfrm>
        <a:graphic>
          <a:graphicData uri="http://schemas.openxmlformats.org/drawingml/2006/table">
            <a:tbl>
              <a:tblPr/>
              <a:tblGrid>
                <a:gridCol w="1371600"/>
                <a:gridCol w="1600200"/>
                <a:gridCol w="1600200"/>
              </a:tblGrid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 (mm)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 (kg/m)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 (m)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0.683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0.770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0.964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0.869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1.351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0.978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1.735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1.067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2.734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1.251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3.856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1.411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4008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45 mm (highlighted) is the diameter actually used in this design.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5000" y="1234440"/>
            <a:ext cx="6080760" cy="4526280"/>
          </a:xfrm>
          <a:prstGeom prst="roundRect">
            <a:avLst>
              <a:gd name="adj" fmla="val 1212"/>
            </a:avLst>
          </a:prstGeom>
          <a:solidFill>
            <a:srgbClr val="12203A"/>
          </a:solidFill>
          <a:ln w="12700">
            <a:solidFill>
              <a:srgbClr val="27406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Burden vs. hole diameter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1965960"/>
            <a:ext cx="0" cy="3108960"/>
          </a:xfrm>
          <a:prstGeom prst="line">
            <a:avLst/>
          </a:prstGeom>
          <a:noFill/>
          <a:ln w="12700">
            <a:solidFill>
              <a:srgbClr val="35507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5074920"/>
            <a:ext cx="5212080" cy="0"/>
          </a:xfrm>
          <a:prstGeom prst="line">
            <a:avLst/>
          </a:prstGeom>
          <a:noFill/>
          <a:ln w="12700">
            <a:solidFill>
              <a:srgbClr val="35507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20815" y="3815791"/>
            <a:ext cx="502920" cy="1259129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29375" y="3559759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429375" y="5129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235190" y="3578733"/>
            <a:ext cx="502920" cy="1496187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43750" y="3322701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7143750" y="5129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949565" y="3386366"/>
            <a:ext cx="502920" cy="1688554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58125" y="313033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7858125" y="5129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663940" y="3174568"/>
            <a:ext cx="502920" cy="1900352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72500" y="29185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8572500" y="5129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378315" y="3001632"/>
            <a:ext cx="502920" cy="2073288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86875" y="2745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1.07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9286875" y="5129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0092690" y="2644102"/>
            <a:ext cx="502920" cy="2430818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01250" y="238807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1.25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10001250" y="5129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807065" y="2333206"/>
            <a:ext cx="502920" cy="2741714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715625" y="207717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1.41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0715625" y="5129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580644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Burden B (m)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7818120" y="5394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Hole diameter d (mm)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5943600" y="553212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 holes take a proportionally larger charge, which allows a wider burden — this is the design trade-off between hole count, drilling cost and charge per hole.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 Cut in Underground Blasting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Blast Vibration &amp; Safety (PPV Check)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78638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Estimating ground vibration using the USBM scaled-distance approach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5394960" cy="2880360"/>
          </a:xfrm>
          <a:prstGeom prst="roundRect">
            <a:avLst>
              <a:gd name="adj" fmla="val 1905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Scaled-distance formula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8288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8FAFC"/>
                </a:solidFill>
              </a:rPr>
              <a:t>PPV = K × (D / √W)^(-B)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D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  =  distance from the blast (m)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W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  =  max. charge weight per delay (kg) = 6.4 kg here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K, 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  =  site constants (typical USBM values: K = 1140, B = 1.6)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425196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12203A"/>
          </a:solidFill>
          <a:ln w="12700">
            <a:solidFill>
              <a:srgbClr val="2740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standoff distance for this charge (W = 6.4 kg):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09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≈ 18 m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BD5E1"/>
                </a:solidFill>
              </a:rPr>
              <a:t>  for a 50 mm/s limit (typical mine structures)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≈ 75 m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  for a 5 mm/s limit (sensitive/heritage structures)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89320" y="1234440"/>
            <a:ext cx="5806440" cy="4526280"/>
          </a:xfrm>
          <a:prstGeom prst="roundRect">
            <a:avLst>
              <a:gd name="adj" fmla="val 1212"/>
            </a:avLst>
          </a:prstGeom>
          <a:solidFill>
            <a:srgbClr val="12203A"/>
          </a:solidFill>
          <a:ln w="12700">
            <a:solidFill>
              <a:srgbClr val="2740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PPV vs. distance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349240" cy="3566160"/>
        </p:xfrm>
        <a:graphic>
          <a:graphicData uri="http://schemas.openxmlformats.org/drawingml/2006/table">
            <a:tbl>
              <a:tblPr/>
              <a:tblGrid>
                <a:gridCol w="1554480"/>
                <a:gridCol w="1874520"/>
                <a:gridCol w="1920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Distance D (m)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Predicted PPV (mm/s)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Exceeds mine-structure limit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Exceeds mine-structure limit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Within mine-structure limit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Within mine-structure limit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Within mine-structure limit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217920" y="55321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and B are standard illustrative USBM values — a real site would calibrate these from monitored test-blast vibration records.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 Cut in Underground Blasting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Initiation Sequence &amp; Timing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78638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sequence that controls how broken rock moves toward the cut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11384280" cy="4343400"/>
          </a:xfrm>
          <a:prstGeom prst="roundRect">
            <a:avLst>
              <a:gd name="adj" fmla="val 1263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Firing sequence, cut outward to perimeter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377440"/>
            <a:ext cx="1600200" cy="1234440"/>
          </a:xfrm>
          <a:prstGeom prst="roundRect">
            <a:avLst>
              <a:gd name="adj" fmla="val 4444"/>
            </a:avLst>
          </a:prstGeom>
          <a:solidFill>
            <a:srgbClr val="12203A"/>
          </a:solidFill>
          <a:ln w="19050">
            <a:solidFill>
              <a:srgbClr val="F6B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(sections 1-2)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2912364"/>
            <a:ext cx="219456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2377440"/>
            <a:ext cx="1600200" cy="1234440"/>
          </a:xfrm>
          <a:prstGeom prst="roundRect">
            <a:avLst>
              <a:gd name="adj" fmla="val 4444"/>
            </a:avLst>
          </a:prstGeom>
          <a:solidFill>
            <a:srgbClr val="12203A"/>
          </a:solidFill>
          <a:ln w="19050">
            <a:solidFill>
              <a:srgbClr val="F6B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79192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(sections 3-4)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79192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2912364"/>
            <a:ext cx="219456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9704" y="2377440"/>
            <a:ext cx="1600200" cy="1234440"/>
          </a:xfrm>
          <a:prstGeom prst="roundRect">
            <a:avLst>
              <a:gd name="adj" fmla="val 4444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35424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08192" y="2912364"/>
            <a:ext cx="219456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2377440"/>
            <a:ext cx="1600200" cy="1234440"/>
          </a:xfrm>
          <a:prstGeom prst="roundRect">
            <a:avLst>
              <a:gd name="adj" fmla="val 4444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91656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91656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 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64424" y="2912364"/>
            <a:ext cx="219456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02168" y="2377440"/>
            <a:ext cx="1600200" cy="1234440"/>
          </a:xfrm>
          <a:prstGeom prst="roundRect">
            <a:avLst>
              <a:gd name="adj" fmla="val 4444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47888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175 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20656" y="2912364"/>
            <a:ext cx="219456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2377440"/>
            <a:ext cx="1600200" cy="1234440"/>
          </a:xfrm>
          <a:prstGeom prst="roundRect">
            <a:avLst>
              <a:gd name="adj" fmla="val 4444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04120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lifters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10412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ms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39319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direction  →  each group is fired after the previous one has had time to move rock into the newly created void.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7240" y="438912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12203A"/>
          </a:solidFill>
          <a:ln w="12700">
            <a:solidFill>
              <a:srgbClr val="27406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" y="45262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B93B"/>
                </a:solidFill>
              </a:rPr>
              <a:t>Why this order: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the central cut fires first to create a free face inside the heading; stoping holes then break toward that cavity; perimeter (wall/roof) holes shape the profile; floor lifters fire last to clear the muck fully.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0"/>
            <a:ext cx="2286000" cy="1645920"/>
          </a:xfrm>
          <a:prstGeom prst="line">
            <a:avLst/>
          </a:prstGeom>
          <a:noFill/>
          <a:ln w="25400">
            <a:solidFill>
              <a:srgbClr val="F6B9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0"/>
            <a:ext cx="1737360" cy="1097280"/>
          </a:xfrm>
          <a:prstGeom prst="line">
            <a:avLst/>
          </a:prstGeom>
          <a:noFill/>
          <a:ln w="19050">
            <a:solidFill>
              <a:srgbClr val="38BDF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897880"/>
            <a:ext cx="502920" cy="502920"/>
          </a:xfrm>
          <a:prstGeom prst="ellipse">
            <a:avLst/>
          </a:prstGeom>
          <a:solidFill>
            <a:srgbClr val="F6B93B">
              <a:alpha val="12000"/>
            </a:srgbClr>
          </a:solidFill>
          <a:ln w="15240">
            <a:solidFill>
              <a:srgbClr val="F6B9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6172200"/>
            <a:ext cx="228600" cy="228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B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 Cut in Underground Blasting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840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Cut Pattern Comparison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78638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burn cut compares with other common parallel and angled cut types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11384280" cy="3794760"/>
          </a:xfrm>
          <a:prstGeom prst="roundRect">
            <a:avLst>
              <a:gd name="adj" fmla="val 1446"/>
            </a:avLst>
          </a:prstGeom>
          <a:solidFill>
            <a:srgbClr val="0F1B2F"/>
          </a:solidFill>
          <a:ln w="12700">
            <a:solidFill>
              <a:srgbClr val="35507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3383280"/>
        </p:xfrm>
        <a:graphic>
          <a:graphicData uri="http://schemas.openxmlformats.org/drawingml/2006/table">
            <a:tbl>
              <a:tblPr/>
              <a:tblGrid>
                <a:gridCol w="1920240"/>
                <a:gridCol w="3063240"/>
                <a:gridCol w="2971800"/>
                <a:gridCol w="29718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Cut 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Hole arrangement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suited to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B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advantage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Burn cut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Parallel holes; empty relief hole(s) at center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Hard, competent rock; small-to-medium drifts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advance per round; simple parallel drilling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Wedge (V) cut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Angled holes forming a V toward the face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Medium-strength rock; wider tunnels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Works across a range of rock types, no empty holes needed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Fan cut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Angled holes radiating from a central point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Larger cross-sections; weaker rock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Efficient for large openings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Pyramid (diamond) cut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Angled holes converging to one point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hard rock; small drifts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Deep, tight cavity; strong initial relief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11480" y="5212080"/>
            <a:ext cx="11384280" cy="960120"/>
          </a:xfrm>
          <a:prstGeom prst="roundRect">
            <a:avLst>
              <a:gd name="adj" fmla="val 5714"/>
            </a:avLst>
          </a:prstGeom>
          <a:solidFill>
            <a:srgbClr val="12203A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34924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6B93B"/>
                </a:solidFill>
              </a:rPr>
              <a:t>Why burn cut was chosen here:  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it works with a single free face and purely parallel drilling — well suited to hard rock drifting, where accurately aligning angled holes (as wedge or fan cuts need) is harder in practice.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Burn Cut in Underground Blasting</dc:title>
  <dc:subject>Burn Cut in Underground Blasting</dc:subject>
  <dc:creator>OpenAI</dc:creator>
  <cp:lastModifiedBy>OpenAI</cp:lastModifiedBy>
  <cp:revision>1</cp:revision>
  <dcterms:created xsi:type="dcterms:W3CDTF">2026-03-25T09:53:18Z</dcterms:created>
  <dcterms:modified xsi:type="dcterms:W3CDTF">2026-03-25T09:53:18Z</dcterms:modified>
</cp:coreProperties>
</file>